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4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164ff0c1e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11164ff0c1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https://docs.google.com/spreadsheets/d/1IwgftHmcPGa8ZVsklt6-K-ep4C7VezHZ3yhhqe6f3GA/edit#gid=1767382413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164ff0c1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164ff0c1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164ff0c1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1164ff0c1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164ff0c1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1164ff0c1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164ff0c1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164ff0c1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164ff0c1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164ff0c1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164ff0c1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164ff0c1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164ff0c1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164ff0c1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3">
  <p:cSld name="TITLE_AND_TWO_COLUMNS_3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6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7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7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9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0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31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26" name="Google Shape;126;p32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291600" y="3107525"/>
            <a:ext cx="3451975" cy="345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ctrTitle"/>
          </p:nvPr>
        </p:nvSpPr>
        <p:spPr>
          <a:xfrm>
            <a:off x="311700" y="1657050"/>
            <a:ext cx="8520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Correlation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mentioned, covariance can give you information about the direction of the relationship between two variables but not about the strength of the relationship.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the other hand, correlation indicated the strength of the relationship between two variables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correlation coefficient can take values between -1 and +1.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negative correlation coefficient implies that one variable increases as the other decreases, while a positive coefficient implies that both variables increase or decrease together (0 indicates no relationship)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pic>
        <p:nvPicPr>
          <p:cNvPr id="151" name="Google Shape;1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613" y="1541800"/>
            <a:ext cx="620077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r</a:t>
            </a:r>
            <a:r>
              <a:rPr baseline="-25000" lang="en"/>
              <a:t>XY</a:t>
            </a:r>
            <a:r>
              <a:rPr lang="en"/>
              <a:t> = ∑(x</a:t>
            </a:r>
            <a:r>
              <a:rPr baseline="-25000" lang="en"/>
              <a:t>i</a:t>
            </a:r>
            <a:r>
              <a:rPr lang="en"/>
              <a:t> - μ</a:t>
            </a:r>
            <a:r>
              <a:rPr baseline="-25000" lang="en"/>
              <a:t>x</a:t>
            </a:r>
            <a:r>
              <a:rPr lang="en"/>
              <a:t>)(y</a:t>
            </a:r>
            <a:r>
              <a:rPr baseline="-25000" lang="en"/>
              <a:t>i</a:t>
            </a:r>
            <a:r>
              <a:rPr lang="en"/>
              <a:t> - μ</a:t>
            </a:r>
            <a:r>
              <a:rPr baseline="-25000" lang="en"/>
              <a:t>y</a:t>
            </a:r>
            <a:r>
              <a:rPr lang="en"/>
              <a:t>) / ( ∑(x</a:t>
            </a:r>
            <a:r>
              <a:rPr baseline="-25000" lang="en"/>
              <a:t>i</a:t>
            </a:r>
            <a:r>
              <a:rPr lang="en"/>
              <a:t> - μ</a:t>
            </a:r>
            <a:r>
              <a:rPr baseline="-25000" lang="en"/>
              <a:t>x</a:t>
            </a:r>
            <a:r>
              <a:rPr lang="en"/>
              <a:t>)</a:t>
            </a:r>
            <a:r>
              <a:rPr baseline="30000" lang="en"/>
              <a:t>2</a:t>
            </a:r>
            <a:r>
              <a:rPr lang="en"/>
              <a:t>(y</a:t>
            </a:r>
            <a:r>
              <a:rPr baseline="-25000" lang="en"/>
              <a:t>i</a:t>
            </a:r>
            <a:r>
              <a:rPr lang="en"/>
              <a:t> - μ</a:t>
            </a:r>
            <a:r>
              <a:rPr baseline="-25000" lang="en"/>
              <a:t>y</a:t>
            </a:r>
            <a:r>
              <a:rPr lang="en"/>
              <a:t>)</a:t>
            </a:r>
            <a:r>
              <a:rPr baseline="30000" lang="en"/>
              <a:t>2</a:t>
            </a:r>
            <a:r>
              <a:rPr lang="en"/>
              <a:t>)</a:t>
            </a:r>
            <a:r>
              <a:rPr baseline="30000" lang="en"/>
              <a:t>1/2</a:t>
            </a:r>
            <a:endParaRPr baseline="30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This equation is normalized and constrained between -1 and +1, and hence is indicative of the strength of the relationship between two variables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158" name="Google Shape;158;p41"/>
          <p:cNvSpPr txBox="1"/>
          <p:nvPr/>
        </p:nvSpPr>
        <p:spPr>
          <a:xfrm>
            <a:off x="349250" y="3511550"/>
            <a:ext cx="829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Do correlation and dependence mean the same thing? 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64" name="Google Shape;164;p42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correlation and dependence mean the same thing?</a:t>
            </a:r>
            <a:br>
              <a:rPr lang="en"/>
            </a:b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non-dependence between two variables =&gt; 0 correlation</a:t>
            </a:r>
            <a:br>
              <a:rPr lang="en"/>
            </a:b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a zero correlation does not necessarily mean non-dependence.</a:t>
            </a:r>
            <a:br>
              <a:rPr lang="en"/>
            </a:b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can only capture linear relationship between variables. However, if two variables are related in a non-linear fashion, they could have a zero correlation. Hence, zero correlation does not necessarily mean non-dependence between variables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70" name="Google Shape;170;p43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Dependent variables with 0 correlation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Perfect quadratic relationship</a:t>
            </a:r>
            <a:endParaRPr/>
          </a:p>
        </p:txBody>
      </p:sp>
      <p:pic>
        <p:nvPicPr>
          <p:cNvPr id="171" name="Google Shape;17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350" y="1593236"/>
            <a:ext cx="3965300" cy="23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77" name="Google Shape;177;p44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Calculate covariance and correlation for the following data set: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X: 3, 6, 10, 12 ( = 7.75)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Y: 8, 10, 12, 14 ( = 11)</a:t>
            </a:r>
            <a:br>
              <a:rPr lang="en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Covariance: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r>
              <a:rPr lang="en"/>
              <a:t>Cov(X,Y)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 (3-7.75)(8-11)+(6-7.75)(10-11)+(10-7.75)(12-11)+(12-7.75)(14-11) /(4-1)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 10.33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83" name="Google Shape;183;p45"/>
          <p:cNvSpPr txBox="1"/>
          <p:nvPr>
            <p:ph idx="1" type="body"/>
          </p:nvPr>
        </p:nvSpPr>
        <p:spPr>
          <a:xfrm>
            <a:off x="311700" y="1076275"/>
            <a:ext cx="87642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Calculate covariance and correlation for the following data set: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X: 3, 6, 10, 12 ( = 7.75)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Y: 8, 10, 12, 14 ( = 11)</a:t>
            </a:r>
            <a:br>
              <a:rPr lang="en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Cov(X,Y) = </a:t>
            </a:r>
            <a:r>
              <a:rPr lang="en">
                <a:solidFill>
                  <a:schemeClr val="lt1"/>
                </a:solidFill>
              </a:rPr>
              <a:t>r</a:t>
            </a:r>
            <a:r>
              <a:rPr baseline="-25000" lang="en">
                <a:solidFill>
                  <a:schemeClr val="lt1"/>
                </a:solidFill>
              </a:rPr>
              <a:t>XY</a:t>
            </a:r>
            <a:r>
              <a:rPr lang="en">
                <a:solidFill>
                  <a:schemeClr val="lt1"/>
                </a:solidFill>
              </a:rPr>
              <a:t> = ∑(x</a:t>
            </a:r>
            <a:r>
              <a:rPr baseline="-25000" lang="en">
                <a:solidFill>
                  <a:schemeClr val="lt1"/>
                </a:solidFill>
              </a:rPr>
              <a:t>i</a:t>
            </a:r>
            <a:r>
              <a:rPr lang="en">
                <a:solidFill>
                  <a:schemeClr val="lt1"/>
                </a:solidFill>
              </a:rPr>
              <a:t> - μ</a:t>
            </a:r>
            <a:r>
              <a:rPr baseline="-25000" lang="en">
                <a:solidFill>
                  <a:schemeClr val="lt1"/>
                </a:solidFill>
              </a:rPr>
              <a:t>x</a:t>
            </a:r>
            <a:r>
              <a:rPr lang="en">
                <a:solidFill>
                  <a:schemeClr val="lt1"/>
                </a:solidFill>
              </a:rPr>
              <a:t>)(y</a:t>
            </a:r>
            <a:r>
              <a:rPr baseline="-25000" lang="en">
                <a:solidFill>
                  <a:schemeClr val="lt1"/>
                </a:solidFill>
              </a:rPr>
              <a:t>i</a:t>
            </a:r>
            <a:r>
              <a:rPr lang="en">
                <a:solidFill>
                  <a:schemeClr val="lt1"/>
                </a:solidFill>
              </a:rPr>
              <a:t> - μ</a:t>
            </a:r>
            <a:r>
              <a:rPr baseline="-25000" lang="en">
                <a:solidFill>
                  <a:schemeClr val="lt1"/>
                </a:solidFill>
              </a:rPr>
              <a:t>y</a:t>
            </a:r>
            <a:r>
              <a:rPr lang="en">
                <a:solidFill>
                  <a:schemeClr val="lt1"/>
                </a:solidFill>
              </a:rPr>
              <a:t>) / ( ∑(x</a:t>
            </a:r>
            <a:r>
              <a:rPr baseline="-25000" lang="en">
                <a:solidFill>
                  <a:schemeClr val="lt1"/>
                </a:solidFill>
              </a:rPr>
              <a:t>i</a:t>
            </a:r>
            <a:r>
              <a:rPr lang="en">
                <a:solidFill>
                  <a:schemeClr val="lt1"/>
                </a:solidFill>
              </a:rPr>
              <a:t> - μ</a:t>
            </a:r>
            <a:r>
              <a:rPr baseline="-25000" lang="en">
                <a:solidFill>
                  <a:schemeClr val="lt1"/>
                </a:solidFill>
              </a:rPr>
              <a:t>x</a:t>
            </a:r>
            <a:r>
              <a:rPr lang="en">
                <a:solidFill>
                  <a:schemeClr val="lt1"/>
                </a:solidFill>
              </a:rPr>
              <a:t>)</a:t>
            </a:r>
            <a:r>
              <a:rPr baseline="30000" lang="en">
                <a:solidFill>
                  <a:schemeClr val="lt1"/>
                </a:solidFill>
              </a:rPr>
              <a:t>2</a:t>
            </a:r>
            <a:r>
              <a:rPr lang="en">
                <a:solidFill>
                  <a:schemeClr val="lt1"/>
                </a:solidFill>
              </a:rPr>
              <a:t>(y</a:t>
            </a:r>
            <a:r>
              <a:rPr baseline="-25000" lang="en">
                <a:solidFill>
                  <a:schemeClr val="lt1"/>
                </a:solidFill>
              </a:rPr>
              <a:t>i</a:t>
            </a:r>
            <a:r>
              <a:rPr lang="en">
                <a:solidFill>
                  <a:schemeClr val="lt1"/>
                </a:solidFill>
              </a:rPr>
              <a:t> - μ</a:t>
            </a:r>
            <a:r>
              <a:rPr baseline="-25000" lang="en">
                <a:solidFill>
                  <a:schemeClr val="lt1"/>
                </a:solidFill>
              </a:rPr>
              <a:t>y</a:t>
            </a:r>
            <a:r>
              <a:rPr lang="en">
                <a:solidFill>
                  <a:schemeClr val="lt1"/>
                </a:solidFill>
              </a:rPr>
              <a:t>)</a:t>
            </a:r>
            <a:r>
              <a:rPr baseline="30000" lang="en">
                <a:solidFill>
                  <a:schemeClr val="lt1"/>
                </a:solidFill>
              </a:rPr>
              <a:t>2</a:t>
            </a:r>
            <a:r>
              <a:rPr lang="en">
                <a:solidFill>
                  <a:schemeClr val="lt1"/>
                </a:solidFill>
              </a:rPr>
              <a:t>)</a:t>
            </a:r>
            <a:r>
              <a:rPr baseline="30000" lang="en">
                <a:solidFill>
                  <a:schemeClr val="lt1"/>
                </a:solidFill>
              </a:rPr>
              <a:t>½</a:t>
            </a:r>
            <a:endParaRPr baseline="30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Numerator</a:t>
            </a:r>
            <a:r>
              <a:rPr lang="en" sz="1500">
                <a:solidFill>
                  <a:schemeClr val="lt1"/>
                </a:solidFill>
              </a:rPr>
              <a:t>: (3-7.75)(8-11)+(6-7.75)(10-11)+(10-7.75)(12-11)+(12-7.75)(14-11) = 30.99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Denominator</a:t>
            </a:r>
            <a:r>
              <a:rPr lang="en" sz="1500">
                <a:solidFill>
                  <a:schemeClr val="lt1"/>
                </a:solidFill>
              </a:rPr>
              <a:t>: sqrt((3-7.75)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(8-11)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+(6-7.75)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(10-11)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+(10-7.75)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(12-11)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+(12-7.75)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(14-11)</a:t>
            </a:r>
            <a:r>
              <a:rPr baseline="30000" lang="en" sz="1500">
                <a:solidFill>
                  <a:schemeClr val="lt1"/>
                </a:solidFill>
              </a:rPr>
              <a:t>2</a:t>
            </a:r>
            <a:r>
              <a:rPr lang="en" sz="1500">
                <a:solidFill>
                  <a:schemeClr val="lt1"/>
                </a:solidFill>
              </a:rPr>
              <a:t>) = 715.40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Hence, </a:t>
            </a:r>
            <a:r>
              <a:rPr b="1" lang="en" sz="1500">
                <a:solidFill>
                  <a:schemeClr val="lt1"/>
                </a:solidFill>
              </a:rPr>
              <a:t>Corr(X, Y) = 0.04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
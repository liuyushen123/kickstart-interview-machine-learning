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1dcb1595a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d1dcb1595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https://docs.google.com/spreadsheets/d/1IwgftHmcPGa8ZVsklt6-K-ep4C7VezHZ3yhhqe6f3GA/edit#gid=1767382413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1dcb1595a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d1dcb1595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d1dcb1595a_0_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d1dcb1595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d1dcb1595a_0_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d1dcb1595a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d1dcb1595a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d1dcb1595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4" name="Google Shape;6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6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3">
  <p:cSld name="TITLE_AND_TWO_COLUMNS_3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Arial"/>
              <a:buChar char="○"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Arial"/>
              <a:buChar char="■"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Arial"/>
              <a:buNone/>
              <a:defRPr b="1" sz="60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Arial"/>
              <a:buNone/>
              <a:defRPr b="1" sz="60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5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6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745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7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7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8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○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Arial"/>
              <a:buChar char="■"/>
              <a:defRPr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8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9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●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Arial"/>
              <a:buChar char="○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Arial"/>
              <a:buChar char="■"/>
              <a:defRPr sz="26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●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"/>
              <a:buChar char="○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Arial"/>
              <a:buChar char="■"/>
              <a:defRPr sz="2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0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●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○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Arial"/>
              <a:buChar char="■"/>
              <a:defRPr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37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37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937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937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937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937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●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937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○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937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Arial"/>
              <a:buChar char="■"/>
              <a:defRPr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0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31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2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Arial"/>
              <a:buNone/>
              <a:defRPr b="1" sz="3200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26" name="Google Shape;126;p32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3" name="Google Shape;133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" name="Google Shape;13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theme" Target="../theme/theme3.xml"/><Relationship Id="rId25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3896D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1">
            <a:alphaModFix/>
          </a:blip>
          <a:srcRect b="-7262" l="-15063" r="-2073" t="-9874"/>
          <a:stretch/>
        </p:blipFill>
        <p:spPr>
          <a:xfrm>
            <a:off x="6291600" y="3107525"/>
            <a:ext cx="3451975" cy="3451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/>
          <p:nvPr>
            <p:ph type="ctrTitle"/>
          </p:nvPr>
        </p:nvSpPr>
        <p:spPr>
          <a:xfrm>
            <a:off x="311700" y="2058600"/>
            <a:ext cx="85206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Correlation and Causation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Correlation and Causation</a:t>
            </a:r>
            <a:endParaRPr/>
          </a:p>
        </p:txBody>
      </p:sp>
      <p:sp>
        <p:nvSpPr>
          <p:cNvPr id="145" name="Google Shape;145;p39"/>
          <p:cNvSpPr txBox="1"/>
          <p:nvPr/>
        </p:nvSpPr>
        <p:spPr>
          <a:xfrm>
            <a:off x="540300" y="1281300"/>
            <a:ext cx="8128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If 2 variables X and Y are correlated, can we expect to see a change in Y if we change variable X?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Not necessarily!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Variable Y would change only if a causal relationship exists between X and Y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Let’s see some examples on the following slides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Correlation and Causation</a:t>
            </a:r>
            <a:endParaRPr/>
          </a:p>
        </p:txBody>
      </p:sp>
      <p:pic>
        <p:nvPicPr>
          <p:cNvPr id="151" name="Google Shape;15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5349" y="1281300"/>
            <a:ext cx="3932624" cy="285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0"/>
          <p:cNvSpPr txBox="1"/>
          <p:nvPr/>
        </p:nvSpPr>
        <p:spPr>
          <a:xfrm>
            <a:off x="387900" y="1128900"/>
            <a:ext cx="4188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 adjacent graph shows ice cream sales being heavily correlated with shark attacks.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r>
              <a:rPr b="1" lang="en" sz="1800">
                <a:solidFill>
                  <a:schemeClr val="lt1"/>
                </a:solidFill>
              </a:rPr>
              <a:t>Does consuming ice cream make it more likely for one to be consumed by sharks?</a:t>
            </a:r>
            <a:r>
              <a:rPr lang="en" sz="1800">
                <a:solidFill>
                  <a:schemeClr val="lt1"/>
                </a:solidFill>
              </a:rPr>
              <a:t> No!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The more likely explanation is that in warmer weather, people are more likely to consume ice cream and go into the ocean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Correlation and Causation</a:t>
            </a:r>
            <a:endParaRPr/>
          </a:p>
        </p:txBody>
      </p:sp>
      <p:sp>
        <p:nvSpPr>
          <p:cNvPr id="158" name="Google Shape;158;p41"/>
          <p:cNvSpPr txBox="1"/>
          <p:nvPr/>
        </p:nvSpPr>
        <p:spPr>
          <a:xfrm>
            <a:off x="387900" y="1128900"/>
            <a:ext cx="4188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The adjacent graph shows the number of high school graduates being correlated with increased pizza consumption.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</a:rPr>
            </a:br>
            <a:r>
              <a:rPr b="1" lang="en" sz="1800">
                <a:solidFill>
                  <a:schemeClr val="lt1"/>
                </a:solidFill>
              </a:rPr>
              <a:t>Is graduating high school causing more people to eat pizza?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1"/>
                </a:solidFill>
              </a:rPr>
            </a:br>
            <a:r>
              <a:rPr lang="en" sz="1800">
                <a:solidFill>
                  <a:schemeClr val="lt1"/>
                </a:solidFill>
              </a:rPr>
              <a:t>The more likely explanation is that as population increases, there are increases in both pizza sales as well as the number of high school graduates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59" name="Google Shape;15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4550" y="1117550"/>
            <a:ext cx="4016199" cy="2908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Correlation and Causation</a:t>
            </a:r>
            <a:endParaRPr/>
          </a:p>
        </p:txBody>
      </p:sp>
      <p:sp>
        <p:nvSpPr>
          <p:cNvPr id="165" name="Google Shape;165;p42"/>
          <p:cNvSpPr txBox="1"/>
          <p:nvPr/>
        </p:nvSpPr>
        <p:spPr>
          <a:xfrm>
            <a:off x="387900" y="1128900"/>
            <a:ext cx="8106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When analyzing two correlated variables, it’s important to look for the presence of other variables that might influence both correlated variables (that is, a confounding variable)</a:t>
            </a:r>
            <a:br>
              <a:rPr lang="en" sz="1800">
                <a:solidFill>
                  <a:schemeClr val="lt1"/>
                </a:solidFill>
              </a:rPr>
            </a:br>
            <a:br>
              <a:rPr lang="en" sz="1800">
                <a:solidFill>
                  <a:schemeClr val="lt1"/>
                </a:solidFill>
              </a:rPr>
            </a:br>
            <a:r>
              <a:rPr b="1" lang="en" sz="1800">
                <a:solidFill>
                  <a:schemeClr val="lt1"/>
                </a:solidFill>
              </a:rPr>
              <a:t>Correlation does not always mean causation.</a:t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
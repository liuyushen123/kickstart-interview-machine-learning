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CvyPzYkRnIh4FXM61pdovzUZ/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4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https://docs.google.com/spreadsheets/d/1IwgftHmcPGa8ZVsklt6-K-ep4C7VezHZ3yhhqe6f3GA/edit#gid=1767382413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9" name="Google Shape;1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1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3">
  <p:cSld name="TITLE_AND_TWO_COLUMNS_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18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05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0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0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05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1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05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2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3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3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4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24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5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25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26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81" name="Google Shape;81;p27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" name="Google Shape;9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8" name="Google Shape;12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291600" y="3107525"/>
            <a:ext cx="3451975" cy="3451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/>
          <p:nvPr>
            <p:ph type="ctrTitle"/>
          </p:nvPr>
        </p:nvSpPr>
        <p:spPr>
          <a:xfrm>
            <a:off x="359675" y="1633050"/>
            <a:ext cx="85206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Covariance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Covariance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311700" y="1173975"/>
            <a:ext cx="8154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Covariance is the measure of the relationship between two variables</a:t>
            </a:r>
            <a:b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a measure of the extent to which two random variables change together i.e. a measure of the joint variability two variables</a:t>
            </a:r>
            <a:b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Positive covariance: the variables tend to move in the same direction</a:t>
            </a:r>
            <a:b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Negative covariance: the variables tend to move in opposite directions.</a:t>
            </a:r>
            <a:b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Covariance can effectively convey the direction of the joint variability of two variables, but not the strength of the relationship, because it is not normalized.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Covariance</a:t>
            </a:r>
            <a:endParaRPr/>
          </a:p>
        </p:txBody>
      </p:sp>
      <p:sp>
        <p:nvSpPr>
          <p:cNvPr id="151" name="Google Shape;151;p3"/>
          <p:cNvSpPr txBox="1"/>
          <p:nvPr>
            <p:ph idx="1" type="body"/>
          </p:nvPr>
        </p:nvSpPr>
        <p:spPr>
          <a:xfrm>
            <a:off x="311700" y="1152475"/>
            <a:ext cx="396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 this example, students who have higher attendance, in general, also obtain a higher score, which suggests a positive covariance between the Attendance and the Score variables.</a:t>
            </a:r>
            <a:br>
              <a:rPr lang="en"/>
            </a:b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We can also see how other variables (parental income, educational; background, etc) affect the score, by analyzing the covariance between these variables and the score.</a:t>
            </a:r>
            <a:endParaRPr/>
          </a:p>
        </p:txBody>
      </p:sp>
      <p:pic>
        <p:nvPicPr>
          <p:cNvPr id="152" name="Google Shape;152;p3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9825" y="1389063"/>
            <a:ext cx="4619625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Covariance</a:t>
            </a:r>
            <a:endParaRPr/>
          </a:p>
        </p:txBody>
      </p:sp>
      <p:sp>
        <p:nvSpPr>
          <p:cNvPr id="158" name="Google Shape;158;p4"/>
          <p:cNvSpPr txBox="1"/>
          <p:nvPr>
            <p:ph idx="1" type="body"/>
          </p:nvPr>
        </p:nvSpPr>
        <p:spPr>
          <a:xfrm>
            <a:off x="277500" y="1017725"/>
            <a:ext cx="88665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Variance is computed using the formula</a:t>
            </a:r>
            <a:br>
              <a:rPr lang="en"/>
            </a:br>
            <a:r>
              <a:rPr lang="en">
                <a:solidFill>
                  <a:schemeClr val="dk1"/>
                </a:solidFill>
              </a:rPr>
              <a:t> 					</a:t>
            </a:r>
            <a:r>
              <a:rPr b="1" lang="en" sz="1600">
                <a:solidFill>
                  <a:schemeClr val="lt1"/>
                </a:solidFill>
              </a:rPr>
              <a:t>𝝈</a:t>
            </a:r>
            <a:r>
              <a:rPr b="1" baseline="30000" lang="en" sz="1600">
                <a:solidFill>
                  <a:schemeClr val="lt1"/>
                </a:solidFill>
              </a:rPr>
              <a:t>2</a:t>
            </a:r>
            <a:r>
              <a:rPr b="1" lang="en" sz="1600">
                <a:solidFill>
                  <a:schemeClr val="lt1"/>
                </a:solidFill>
              </a:rPr>
              <a:t> = ∑(x - μ)</a:t>
            </a:r>
            <a:r>
              <a:rPr b="1" baseline="30000" lang="en" sz="1600">
                <a:solidFill>
                  <a:schemeClr val="lt1"/>
                </a:solidFill>
              </a:rPr>
              <a:t>2</a:t>
            </a:r>
            <a:r>
              <a:rPr b="1" lang="en" sz="1600">
                <a:solidFill>
                  <a:schemeClr val="lt1"/>
                </a:solidFill>
              </a:rPr>
              <a:t> / n</a:t>
            </a:r>
            <a:r>
              <a:rPr lang="en" sz="16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Covariance, on the other hand, is computed as: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				</a:t>
            </a:r>
            <a:r>
              <a:rPr lang="en" sz="1600">
                <a:solidFill>
                  <a:schemeClr val="lt1"/>
                </a:solidFill>
              </a:rPr>
              <a:t>Cov(X, Y)  = ∑ (x</a:t>
            </a:r>
            <a:r>
              <a:rPr baseline="-25000" lang="en" sz="1600">
                <a:solidFill>
                  <a:schemeClr val="lt1"/>
                </a:solidFill>
              </a:rPr>
              <a:t>i</a:t>
            </a:r>
            <a:r>
              <a:rPr lang="en" sz="1600">
                <a:solidFill>
                  <a:schemeClr val="lt1"/>
                </a:solidFill>
              </a:rPr>
              <a:t> - μ</a:t>
            </a:r>
            <a:r>
              <a:rPr baseline="-25000" lang="en" sz="1600">
                <a:solidFill>
                  <a:schemeClr val="lt1"/>
                </a:solidFill>
              </a:rPr>
              <a:t>x</a:t>
            </a:r>
            <a:r>
              <a:rPr lang="en" sz="1600">
                <a:solidFill>
                  <a:schemeClr val="lt1"/>
                </a:solidFill>
              </a:rPr>
              <a:t>)(y</a:t>
            </a:r>
            <a:r>
              <a:rPr baseline="-25000" lang="en" sz="1600">
                <a:solidFill>
                  <a:schemeClr val="lt1"/>
                </a:solidFill>
              </a:rPr>
              <a:t>i</a:t>
            </a:r>
            <a:r>
              <a:rPr lang="en" sz="1600">
                <a:solidFill>
                  <a:schemeClr val="lt1"/>
                </a:solidFill>
              </a:rPr>
              <a:t> - μ</a:t>
            </a:r>
            <a:r>
              <a:rPr baseline="-25000" lang="en" sz="1600">
                <a:solidFill>
                  <a:schemeClr val="lt1"/>
                </a:solidFill>
              </a:rPr>
              <a:t>y</a:t>
            </a:r>
            <a:r>
              <a:rPr lang="en" sz="1600">
                <a:solidFill>
                  <a:schemeClr val="lt1"/>
                </a:solidFill>
              </a:rPr>
              <a:t>) / (n - 1)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where,</a:t>
            </a:r>
            <a:br>
              <a:rPr lang="en">
                <a:solidFill>
                  <a:schemeClr val="lt1"/>
                </a:solidFill>
              </a:rPr>
            </a:br>
            <a:r>
              <a:rPr i="1" lang="en">
                <a:solidFill>
                  <a:schemeClr val="lt1"/>
                </a:solidFill>
              </a:rPr>
              <a:t>X</a:t>
            </a:r>
            <a:r>
              <a:rPr lang="en">
                <a:solidFill>
                  <a:schemeClr val="lt1"/>
                </a:solidFill>
              </a:rPr>
              <a:t> &amp; </a:t>
            </a:r>
            <a:r>
              <a:rPr i="1" lang="en">
                <a:solidFill>
                  <a:schemeClr val="lt1"/>
                </a:solidFill>
              </a:rPr>
              <a:t>Y</a:t>
            </a:r>
            <a:r>
              <a:rPr lang="en">
                <a:solidFill>
                  <a:schemeClr val="lt1"/>
                </a:solidFill>
              </a:rPr>
              <a:t> represents the independent variables</a:t>
            </a:r>
            <a:endParaRPr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i="1" lang="en" sz="1800">
                <a:solidFill>
                  <a:schemeClr val="lt1"/>
                </a:solidFill>
              </a:rPr>
              <a:t>n</a:t>
            </a:r>
            <a:r>
              <a:rPr lang="en" sz="1800">
                <a:solidFill>
                  <a:schemeClr val="lt1"/>
                </a:solidFill>
              </a:rPr>
              <a:t> represents the number of data points in the sample, 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μ</a:t>
            </a:r>
            <a:r>
              <a:rPr baseline="-25000" lang="en" sz="1800">
                <a:solidFill>
                  <a:schemeClr val="lt1"/>
                </a:solidFill>
              </a:rPr>
              <a:t>x</a:t>
            </a:r>
            <a:r>
              <a:rPr lang="en" sz="1800">
                <a:solidFill>
                  <a:schemeClr val="lt1"/>
                </a:solidFill>
              </a:rPr>
              <a:t> represents the mean of the X, and 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μ</a:t>
            </a:r>
            <a:r>
              <a:rPr baseline="-25000" lang="en" sz="1800">
                <a:solidFill>
                  <a:schemeClr val="lt1"/>
                </a:solidFill>
              </a:rPr>
              <a:t>y</a:t>
            </a:r>
            <a:r>
              <a:rPr lang="en" sz="1800">
                <a:solidFill>
                  <a:schemeClr val="lt1"/>
                </a:solidFill>
              </a:rPr>
              <a:t> represents the mean of the dependent variable 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The reason (n-1) is used in the denominator instead of n is to obtain a more unbiased estimate of the population value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Covariance</a:t>
            </a:r>
            <a:endParaRPr/>
          </a:p>
        </p:txBody>
      </p:sp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311700" y="976200"/>
            <a:ext cx="8791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/>
              <a:t> Due to lack of normalization, the value of the covariance does not convey any useful information about the strength of the relationship between two variables.</a:t>
            </a:r>
            <a:r>
              <a:rPr lang="en"/>
              <a:t> (only the sign).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For two jointly distributed real-valued random variables, X and Y, the covariance can also be defined as follows.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cov(X, Y) = E[(X - E[X]) (Y - E[Y])]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where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E[X] denotes the mean μ</a:t>
            </a:r>
            <a:r>
              <a:rPr baseline="-25000" lang="en">
                <a:solidFill>
                  <a:schemeClr val="lt1"/>
                </a:solidFill>
              </a:rPr>
              <a:t>x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E[Y] denotes the mean μ</a:t>
            </a:r>
            <a:r>
              <a:rPr baseline="-25000" lang="en">
                <a:solidFill>
                  <a:schemeClr val="lt1"/>
                </a:solidFill>
              </a:rPr>
              <a:t>y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X - E[X] -&gt; x - μ</a:t>
            </a:r>
            <a:r>
              <a:rPr baseline="-25000" lang="en">
                <a:solidFill>
                  <a:schemeClr val="lt1"/>
                </a:solidFill>
              </a:rPr>
              <a:t>x</a:t>
            </a:r>
            <a:endParaRPr baseline="-25000">
              <a:solidFill>
                <a:schemeClr val="lt1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Y - E[Y] -&gt; y - μ</a:t>
            </a:r>
            <a:r>
              <a:rPr baseline="-25000" lang="en">
                <a:solidFill>
                  <a:schemeClr val="lt1"/>
                </a:solidFill>
              </a:rPr>
              <a:t>y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Covariance</a:t>
            </a:r>
            <a:endParaRPr/>
          </a:p>
        </p:txBody>
      </p:sp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Calculate covariance for the following data set: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x: 2.1, 2.5, 3.6, 4.0 (mean = 3.1)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y: 8, 10, 12, 14 (mean = 11)</a:t>
            </a:r>
            <a:br>
              <a:rPr lang="en"/>
            </a:b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Cov(X,Y) = Σ(x</a:t>
            </a:r>
            <a:r>
              <a:rPr baseline="-25000" lang="en"/>
              <a:t>i</a:t>
            </a:r>
            <a:r>
              <a:rPr lang="en"/>
              <a:t>-μ)(y</a:t>
            </a:r>
            <a:r>
              <a:rPr baseline="-25000" lang="en"/>
              <a:t>i</a:t>
            </a:r>
            <a:r>
              <a:rPr lang="en"/>
              <a:t>-ν) / (n-1)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= (2.1-3.1)(8-11)+(2.5-3.1)(10-11)+(3.6-3.1)(12-11)+(4.0-3.1)(14-11) /(4-1)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= (-1)(-3) + (-0.6)(-1)+(.5)(1)+(0.9)(3) / 3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= 3 + 0.6 + .5 + 2.7 / 3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= 6.8/3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= 2.267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Applications of Covariance</a:t>
            </a:r>
            <a:endParaRPr/>
          </a:p>
        </p:txBody>
      </p:sp>
      <p:sp>
        <p:nvSpPr>
          <p:cNvPr id="176" name="Google Shape;176;p7"/>
          <p:cNvSpPr txBox="1"/>
          <p:nvPr>
            <p:ph idx="1" type="body"/>
          </p:nvPr>
        </p:nvSpPr>
        <p:spPr>
          <a:xfrm>
            <a:off x="311700" y="1076275"/>
            <a:ext cx="8589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Covariance is used for feature selection in algorithms such as Principal Component Analysis (We will cover this topic during Machine Learning Lecture).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Covariance is used in finance while building portfolios to determine the proportion of different assets the investors should invest in.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Covariance is also used in molecular biology and genetics to study secondary and tertiary proteins or RNA structures.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
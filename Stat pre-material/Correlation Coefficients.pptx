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C2AE1-B3D5-4541-9795-457490CC687D}">
  <a:tblStyle styleId="{A34C2AE1-B3D5-4541-9795-457490CC68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686285-111E-4964-A1FF-DF96AC9081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42A1CFA-79FA-46AB-8ABD-0406E156BF0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1dd45a2bd_0_5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d1dd45a2bd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https://docs.google.com/spreadsheets/d/1IwgftHmcPGa8ZVsklt6-K-ep4C7VezHZ3yhhqe6f3GA/edit#gid=1767382413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1dd45a2b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1dd45a2b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1dd45a2b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1dd45a2b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d1dd45a2b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d1dd45a2b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1dd45a2bd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1dd45a2b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1dd45a2b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d1dd45a2b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1dd45a2bd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1dd45a2bd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1dd45a2b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1dd45a2b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1dd45a2bd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d1dd45a2b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3">
  <p:cSld name="TITLE_AND_TWO_COLUMNS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6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7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26" name="Google Shape;126;p32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291600" y="3107525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Correlation Coefficients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1. </a:t>
            </a:r>
            <a:r>
              <a:rPr b="1" lang="en">
                <a:solidFill>
                  <a:schemeClr val="lt1"/>
                </a:solidFill>
              </a:rPr>
              <a:t>Pearson Coefficient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Pearson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Correlation is obtained when dividing the covariance value by the standard deviation of both variables. </a:t>
            </a:r>
            <a:endParaRPr b="1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Covariance(X, Y) / (𝝈(X) * 𝝈(Y))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51" name="Google Shape;151;p40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2. </a:t>
            </a:r>
            <a:r>
              <a:rPr b="1" lang="en">
                <a:solidFill>
                  <a:schemeClr val="lt1"/>
                </a:solidFill>
              </a:rPr>
              <a:t>Spearman Coefficient</a:t>
            </a:r>
            <a:endParaRPr b="1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Covariance(rank(X), rank(Y)) / (𝝈(rank(X)) * 𝝈(rank(Y)))</a:t>
            </a:r>
            <a:endParaRPr sz="18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Here, rank(X)  is the ordered ranking of the feature X in descending order. For example,</a:t>
            </a:r>
            <a:endParaRPr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X = [10, 15, 9, 12, 5]</a:t>
            </a:r>
            <a:endParaRPr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rank(X) = [3, 1, 4, 2, 5]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311700" y="1076275"/>
            <a:ext cx="8589000" cy="164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the difference between Pearson and Spearman coefficients?</a:t>
            </a:r>
            <a:endParaRPr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Pearson coefficient captures the strength of linear dependence between two variables, while Spearman coefficient captures how two variables are related monotonically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1"/>
          <p:cNvSpPr txBox="1"/>
          <p:nvPr/>
        </p:nvSpPr>
        <p:spPr>
          <a:xfrm>
            <a:off x="391575" y="3291425"/>
            <a:ext cx="810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Let’s see an example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64" name="Google Shape;164;p42"/>
          <p:cNvSpPr txBox="1"/>
          <p:nvPr>
            <p:ph idx="1" type="body"/>
          </p:nvPr>
        </p:nvSpPr>
        <p:spPr>
          <a:xfrm>
            <a:off x="311700" y="1076275"/>
            <a:ext cx="8589000" cy="164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Take the function y = x</a:t>
            </a:r>
            <a:r>
              <a:rPr baseline="30000" lang="en">
                <a:solidFill>
                  <a:schemeClr val="lt1"/>
                </a:solidFill>
              </a:rPr>
              <a:t>3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p42"/>
          <p:cNvGraphicFramePr/>
          <p:nvPr/>
        </p:nvGraphicFramePr>
        <p:xfrm>
          <a:off x="417525" y="188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{A34C2AE1-B3D5-4541-9795-457490CC687D}</a:tableStyleId>
              </a:tblPr>
              <a:tblGrid>
                <a:gridCol w="705125"/>
                <a:gridCol w="705125"/>
                <a:gridCol w="705125"/>
                <a:gridCol w="705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x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y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rank(x)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</a:rPr>
                        <a:t>rank(y)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125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42"/>
          <p:cNvSpPr txBox="1"/>
          <p:nvPr/>
        </p:nvSpPr>
        <p:spPr>
          <a:xfrm>
            <a:off x="3640850" y="1883825"/>
            <a:ext cx="5351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Pearson’s coefficient =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Covariance(X, Y) / (𝝈(X) * 𝝈(Y))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~ 0.94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Spearman’s coefficient ~ 1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72" name="Google Shape;172;p43"/>
          <p:cNvSpPr txBox="1"/>
          <p:nvPr>
            <p:ph idx="1" type="body"/>
          </p:nvPr>
        </p:nvSpPr>
        <p:spPr>
          <a:xfrm>
            <a:off x="311700" y="1076275"/>
            <a:ext cx="8589000" cy="164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3"/>
          <p:cNvSpPr txBox="1"/>
          <p:nvPr/>
        </p:nvSpPr>
        <p:spPr>
          <a:xfrm>
            <a:off x="304800" y="990600"/>
            <a:ext cx="8024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Consider two variables x, y whose values vary as shown in the table: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Without using any math, you can see that y is just double x. So this means they are highly correlated. </a:t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174" name="Google Shape;174;p43"/>
          <p:cNvGraphicFramePr/>
          <p:nvPr/>
        </p:nvGraphicFramePr>
        <p:xfrm>
          <a:off x="680000" y="176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{49686285-111E-4964-A1FF-DF96AC9081B3}</a:tableStyleId>
              </a:tblPr>
              <a:tblGrid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x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y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12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14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16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18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</a:rPr>
                        <a:t>20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80" name="Google Shape;180;p44"/>
          <p:cNvSpPr txBox="1"/>
          <p:nvPr>
            <p:ph idx="1" type="body"/>
          </p:nvPr>
        </p:nvSpPr>
        <p:spPr>
          <a:xfrm>
            <a:off x="311700" y="1076275"/>
            <a:ext cx="8589000" cy="164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4"/>
          <p:cNvSpPr txBox="1"/>
          <p:nvPr/>
        </p:nvSpPr>
        <p:spPr>
          <a:xfrm>
            <a:off x="391575" y="1185325"/>
            <a:ext cx="8646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Mean of x = μ</a:t>
            </a:r>
            <a:r>
              <a:rPr baseline="-25000" lang="en" sz="1800">
                <a:solidFill>
                  <a:schemeClr val="lt1"/>
                </a:solidFill>
              </a:rPr>
              <a:t>x</a:t>
            </a:r>
            <a:r>
              <a:rPr lang="en" sz="1800">
                <a:solidFill>
                  <a:schemeClr val="lt1"/>
                </a:solidFill>
              </a:rPr>
              <a:t> = 5.5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Mean of y = μ</a:t>
            </a:r>
            <a:r>
              <a:rPr baseline="-25000" lang="en" sz="1800">
                <a:solidFill>
                  <a:schemeClr val="lt1"/>
                </a:solidFill>
              </a:rPr>
              <a:t>y</a:t>
            </a:r>
            <a:r>
              <a:rPr lang="en" sz="1800">
                <a:solidFill>
                  <a:schemeClr val="lt1"/>
                </a:solidFill>
              </a:rPr>
              <a:t> = 11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82" name="Google Shape;182;p44"/>
          <p:cNvGraphicFramePr/>
          <p:nvPr/>
        </p:nvGraphicFramePr>
        <p:xfrm>
          <a:off x="2676300" y="12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{D42A1CFA-79FA-46AB-8ABD-0406E156BF0B}</a:tableStyleId>
              </a:tblPr>
              <a:tblGrid>
                <a:gridCol w="1119275"/>
                <a:gridCol w="1119275"/>
                <a:gridCol w="1119275"/>
                <a:gridCol w="1343125"/>
                <a:gridCol w="1455050"/>
              </a:tblGrid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x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y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xi - μx(=5.5)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yi - μy(=11)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(xi - μx)(yi - μy)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-3.5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-2.5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12.5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-1.5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-1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12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14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16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12.5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18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3.5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20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40.5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88" name="Google Shape;188;p45"/>
          <p:cNvSpPr txBox="1"/>
          <p:nvPr>
            <p:ph idx="1" type="body"/>
          </p:nvPr>
        </p:nvSpPr>
        <p:spPr>
          <a:xfrm>
            <a:off x="311700" y="1076275"/>
            <a:ext cx="8589000" cy="164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5"/>
          <p:cNvSpPr txBox="1"/>
          <p:nvPr/>
        </p:nvSpPr>
        <p:spPr>
          <a:xfrm>
            <a:off x="391575" y="1185325"/>
            <a:ext cx="8646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</a:rPr>
              <a:t>∑ (x</a:t>
            </a:r>
            <a:r>
              <a:rPr baseline="-25000" lang="en" sz="1800">
                <a:solidFill>
                  <a:schemeClr val="lt1"/>
                </a:solidFill>
              </a:rPr>
              <a:t>i</a:t>
            </a:r>
            <a:r>
              <a:rPr lang="en" sz="1800">
                <a:solidFill>
                  <a:schemeClr val="lt1"/>
                </a:solidFill>
              </a:rPr>
              <a:t> - μ</a:t>
            </a:r>
            <a:r>
              <a:rPr baseline="-25000" lang="en" sz="1800">
                <a:solidFill>
                  <a:schemeClr val="lt1"/>
                </a:solidFill>
              </a:rPr>
              <a:t>x</a:t>
            </a:r>
            <a:r>
              <a:rPr lang="en" sz="1800">
                <a:solidFill>
                  <a:schemeClr val="lt1"/>
                </a:solidFill>
              </a:rPr>
              <a:t>)(y</a:t>
            </a:r>
            <a:r>
              <a:rPr baseline="-25000" lang="en" sz="1800">
                <a:solidFill>
                  <a:schemeClr val="lt1"/>
                </a:solidFill>
              </a:rPr>
              <a:t>i</a:t>
            </a:r>
            <a:r>
              <a:rPr lang="en" sz="1800">
                <a:solidFill>
                  <a:schemeClr val="lt1"/>
                </a:solidFill>
              </a:rPr>
              <a:t> - μ</a:t>
            </a:r>
            <a:r>
              <a:rPr baseline="-25000" lang="en" sz="1800">
                <a:solidFill>
                  <a:schemeClr val="lt1"/>
                </a:solidFill>
              </a:rPr>
              <a:t>y</a:t>
            </a:r>
            <a:r>
              <a:rPr lang="en" sz="1800">
                <a:solidFill>
                  <a:schemeClr val="lt1"/>
                </a:solidFill>
              </a:rPr>
              <a:t>) = 165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Covariance = ∑ (x</a:t>
            </a:r>
            <a:r>
              <a:rPr baseline="-25000" lang="en" sz="1800">
                <a:solidFill>
                  <a:schemeClr val="lt1"/>
                </a:solidFill>
              </a:rPr>
              <a:t>i</a:t>
            </a:r>
            <a:r>
              <a:rPr lang="en" sz="1800">
                <a:solidFill>
                  <a:schemeClr val="lt1"/>
                </a:solidFill>
              </a:rPr>
              <a:t> - μ</a:t>
            </a:r>
            <a:r>
              <a:rPr baseline="-25000" lang="en" sz="1800">
                <a:solidFill>
                  <a:schemeClr val="lt1"/>
                </a:solidFill>
              </a:rPr>
              <a:t>x</a:t>
            </a:r>
            <a:r>
              <a:rPr lang="en" sz="1800">
                <a:solidFill>
                  <a:schemeClr val="lt1"/>
                </a:solidFill>
              </a:rPr>
              <a:t>)(y</a:t>
            </a:r>
            <a:r>
              <a:rPr baseline="-25000" lang="en" sz="1800">
                <a:solidFill>
                  <a:schemeClr val="lt1"/>
                </a:solidFill>
              </a:rPr>
              <a:t>i</a:t>
            </a:r>
            <a:r>
              <a:rPr lang="en" sz="1800">
                <a:solidFill>
                  <a:schemeClr val="lt1"/>
                </a:solidFill>
              </a:rPr>
              <a:t> - μ</a:t>
            </a:r>
            <a:r>
              <a:rPr baseline="-25000" lang="en" sz="1800">
                <a:solidFill>
                  <a:schemeClr val="lt1"/>
                </a:solidFill>
              </a:rPr>
              <a:t>y</a:t>
            </a:r>
            <a:r>
              <a:rPr lang="en" sz="1800">
                <a:solidFill>
                  <a:schemeClr val="lt1"/>
                </a:solidFill>
              </a:rPr>
              <a:t>) / (n - 1) = 165/9 = 18.33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To calculate the correlation coefficient, all we need is the standard deviation of x and y.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Standard deviation of  x = 3.028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Standard deviation of y = 6.055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Correlation coefficient = 18.33/(3.028*6.055) = 1.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Coefficients</a:t>
            </a:r>
            <a:endParaRPr/>
          </a:p>
        </p:txBody>
      </p:sp>
      <p:sp>
        <p:nvSpPr>
          <p:cNvPr id="195" name="Google Shape;195;p46"/>
          <p:cNvSpPr txBox="1"/>
          <p:nvPr/>
        </p:nvSpPr>
        <p:spPr>
          <a:xfrm>
            <a:off x="311700" y="1139000"/>
            <a:ext cx="8410800" cy="3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Using the previous example, what do you think will be the covariance and correlation between x and y if we change values of y to 3 times of x rather than two times of x?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UcParenBoth"/>
            </a:pPr>
            <a:r>
              <a:rPr lang="en" sz="1800">
                <a:solidFill>
                  <a:schemeClr val="lt1"/>
                </a:solidFill>
              </a:rPr>
              <a:t>Covariance and correlation both will remain the same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UcParenBoth"/>
            </a:pPr>
            <a:r>
              <a:rPr lang="en" sz="1800">
                <a:solidFill>
                  <a:schemeClr val="lt1"/>
                </a:solidFill>
              </a:rPr>
              <a:t>Covariance increases, the correlation remains the same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UcParenBoth"/>
            </a:pPr>
            <a:r>
              <a:rPr lang="en" sz="1800">
                <a:solidFill>
                  <a:schemeClr val="lt1"/>
                </a:solidFill>
              </a:rPr>
              <a:t>Correlation and correlation both will increase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lphaUcParenBoth"/>
            </a:pPr>
            <a:r>
              <a:rPr lang="en" sz="1800">
                <a:solidFill>
                  <a:schemeClr val="lt1"/>
                </a:solidFill>
              </a:rPr>
              <a:t>Covariance increases, but the correlation will decrease.</a:t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196" name="Google Shape;196;p46"/>
          <p:cNvGraphicFramePr/>
          <p:nvPr/>
        </p:nvGraphicFramePr>
        <p:xfrm>
          <a:off x="692700" y="238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{49686285-111E-4964-A1FF-DF96AC9081B3}</a:tableStyleId>
              </a:tblPr>
              <a:tblGrid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  <a:gridCol w="5236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x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1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2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3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5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6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7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9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10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y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3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6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9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12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15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18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21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24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27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30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